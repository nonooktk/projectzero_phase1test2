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91440"/>
            <a:ext cx="11914632" cy="384048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11914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ChromaDB × GraphRAG の併用で「関連度」と「関連性」を同時に捉え、抜け漏れのない情報収集を実現する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585216"/>
            <a:ext cx="5166360" cy="4114800"/>
          </a:xfrm>
          <a:prstGeom prst="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585216"/>
            <a:ext cx="516636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85216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ChromaDB ── 関連度（意味の近さ）で検索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" y="987552"/>
            <a:ext cx="49469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▌仕組み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1225296"/>
            <a:ext cx="49469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E45"/>
                </a:solidFill>
              </a:rPr>
              <a:t>テキストを数値ベクトルに変換し、コサイン類似度で「意味が近いもの」を取得。
キーワードが違っても意味が近ければヒットする。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920240"/>
            <a:ext cx="49469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▌検索対象（3種類のデータ）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" y="2157984"/>
            <a:ext cx="4946904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194560"/>
            <a:ext cx="4800600" cy="13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external.json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300996"/>
            <a:ext cx="4800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市場・競合・規制データ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" y="2523744"/>
            <a:ext cx="4946904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560320"/>
            <a:ext cx="4800600" cy="13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internal.json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666756"/>
            <a:ext cx="4800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技術・過去PJ・失敗事例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2889504"/>
            <a:ext cx="4946904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926080"/>
            <a:ext cx="4800600" cy="13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persons.json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032516"/>
            <a:ext cx="4800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社内キーマン情報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" y="3474720"/>
            <a:ext cx="49469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▌具体例：テーマ「ビルエネルギー管理」で検索すると…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3694176"/>
            <a:ext cx="4901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E45"/>
                </a:solidFill>
              </a:rPr>
              <a:t>✓  BEMS市場の成長動向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4023360"/>
            <a:ext cx="4901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E45"/>
                </a:solidFill>
              </a:rPr>
              <a:t>✓  過去のBEMS事業（失敗事例）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4352544"/>
            <a:ext cx="4901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E45"/>
                </a:solidFill>
              </a:rPr>
              <a:t>✓  薄膜太陽電池技術（エネルギーで意味一致）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" y="4690872"/>
            <a:ext cx="4946904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4690872"/>
            <a:ext cx="4901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</a:rPr>
              <a:t>⚠  「田村浩二」はテーマに出てこないためヒットしない → GraphRAG で補完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76672" y="585216"/>
            <a:ext cx="1435608" cy="411480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76672" y="1133856"/>
            <a:ext cx="1435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1956816"/>
            <a:ext cx="143560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99CC"/>
                </a:solidFill>
              </a:rPr>
              <a:t>組み合わせることで
「関連度」
　＋
「関連性」
を同時に取得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30952" y="2459736.0"/>
            <a:ext cx="18288" cy="0.0"/>
          </a:xfrm>
          <a:prstGeom prst="line">
            <a:avLst/>
          </a:prstGeom>
          <a:ln w="19050">
            <a:solidFill>
              <a:srgbClr val="7C3AE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839712" y="2459736.0"/>
            <a:ext cx="18288" cy="0.0"/>
          </a:xfrm>
          <a:prstGeom prst="line">
            <a:avLst/>
          </a:prstGeom>
          <a:ln w="19050">
            <a:solidFill>
              <a:srgbClr val="C0501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76672" y="4242816"/>
            <a:ext cx="1435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</a:rPr>
              <a:t>↓
抜け漏れのない
検索を実現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85432" y="585216"/>
            <a:ext cx="5166360" cy="4114800"/>
          </a:xfrm>
          <a:prstGeom prst="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85432" y="585216"/>
            <a:ext cx="5166360" cy="329184"/>
          </a:xfrm>
          <a:prstGeom prst="rect">
            <a:avLst/>
          </a:prstGeom>
          <a:solidFill>
            <a:srgbClr val="C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585216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GraphRAG（NetworkX）── 関連性（つながり）で検索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987552"/>
            <a:ext cx="49469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5010"/>
                </a:solidFill>
              </a:rPr>
              <a:t>▌仕組み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1225296"/>
            <a:ext cx="49469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E45"/>
                </a:solidFill>
              </a:rPr>
              <a:t>ChromaDB でヒットしたIDを起点に、知識グラフを1ステップ辿る。
グラフ上でつながっている人物・技術・市場を自動で補完する。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1920240"/>
            <a:ext cx="49469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5010"/>
                </a:solidFill>
              </a:rPr>
              <a:t>▌知識グラフの構造（ノードとエッジ）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2157984"/>
            <a:ext cx="4946904" cy="310896"/>
          </a:xfrm>
          <a:prstGeom prst="rect">
            <a:avLst/>
          </a:prstGeom>
          <a:solidFill>
            <a:srgbClr val="C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68312" y="2194560"/>
            <a:ext cx="4800600" cy="13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技術ノード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2300996"/>
            <a:ext cx="4800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保有技術・コア資産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2523744"/>
            <a:ext cx="4946904" cy="310896"/>
          </a:xfrm>
          <a:prstGeom prst="rect">
            <a:avLst/>
          </a:prstGeom>
          <a:solidFill>
            <a:srgbClr val="C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68312" y="2560320"/>
            <a:ext cx="4800600" cy="13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人物ノード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68312" y="2666756"/>
            <a:ext cx="4800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社内キーマン・担当候補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60" y="2889504"/>
            <a:ext cx="4946904" cy="310896"/>
          </a:xfrm>
          <a:prstGeom prst="rect">
            <a:avLst/>
          </a:prstGeom>
          <a:solidFill>
            <a:srgbClr val="C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68312" y="2926080"/>
            <a:ext cx="4800600" cy="13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市場ノード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68312" y="3032516"/>
            <a:ext cx="4800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参入検討先の事業領域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60" y="3255264"/>
            <a:ext cx="4946904" cy="310896"/>
          </a:xfrm>
          <a:prstGeom prst="rect">
            <a:avLst/>
          </a:prstGeom>
          <a:solidFill>
            <a:srgbClr val="C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68312" y="3291840"/>
            <a:ext cx="4800600" cy="13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過去PJノード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68312" y="3398276"/>
            <a:ext cx="48006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実績・失敗事例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3474720"/>
            <a:ext cx="49469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5010"/>
                </a:solidFill>
              </a:rPr>
              <a:t>▌具体例：GraphRAG が補完するもの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3694176"/>
            <a:ext cx="49469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E45"/>
                </a:solidFill>
              </a:rPr>
              <a:t>ChromaDB ヒット：「BEMS事業（past_project）」
      　　↓  グラフを1ステップ辿る
✓  田村浩二（過去に担当・営業ネットワークあり）
✓  薄膜太陽電池技術（応用できる）
✓  BEMS市場（関連する）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95160" y="4690872"/>
            <a:ext cx="4946904" cy="274320"/>
          </a:xfrm>
          <a:prstGeom prst="rect">
            <a:avLst/>
          </a:prstGeom>
          <a:solidFill>
            <a:srgbClr val="FFEDCC"/>
          </a:solidFill>
          <a:ln w="12700">
            <a:solidFill>
              <a:srgbClr val="C05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40880" y="4690872"/>
            <a:ext cx="4901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5010"/>
                </a:solidFill>
              </a:rPr>
              <a:t>＋  internal.json を直接読込 → 失敗条件（conditions_now）を補完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4809744"/>
            <a:ext cx="11914632" cy="1609344"/>
          </a:xfrm>
          <a:prstGeom prst="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8600" y="4809744"/>
            <a:ext cx="2286000" cy="25603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" y="4809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検索方法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42032" y="4809744"/>
            <a:ext cx="2286000" cy="25603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42032" y="4809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意味的に近い情報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55464" y="4809744"/>
            <a:ext cx="2743200" cy="25603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55464" y="48097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構造的なつながり（関係者）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26096" y="4809744"/>
            <a:ext cx="2468880" cy="25603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26096" y="480974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失敗条件の解消確認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22408" y="4809744"/>
            <a:ext cx="1856231" cy="25603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22408" y="4809744"/>
            <a:ext cx="1856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→ 抜け漏れリスク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5111496"/>
            <a:ext cx="2286000" cy="420624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8600" y="511149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キーワード検索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42032" y="5111496"/>
            <a:ext cx="228600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42032" y="511149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</a:rPr>
              <a:t>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55464" y="5111496"/>
            <a:ext cx="274320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55464" y="511149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</a:rPr>
              <a:t>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26096" y="5111496"/>
            <a:ext cx="2468880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26096" y="5111496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</a:rPr>
              <a:t>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122408" y="5111496"/>
            <a:ext cx="1856231" cy="42062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22408" y="5111496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</a:rPr>
              <a:t>高い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8600" y="5550408"/>
            <a:ext cx="2286000" cy="420624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8600" y="555040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ChromaDB のみ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42032" y="5550408"/>
            <a:ext cx="2286000" cy="42062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42032" y="555040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</a:rPr>
              <a:t>○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55464" y="5550408"/>
            <a:ext cx="2743200" cy="42062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55464" y="555040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</a:rPr>
              <a:t>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26096" y="5550408"/>
            <a:ext cx="2468880" cy="42062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26096" y="5550408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</a:rPr>
              <a:t>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122408" y="5550408"/>
            <a:ext cx="1856231" cy="420624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22408" y="5550408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</a:rPr>
              <a:t>中程度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5989320"/>
            <a:ext cx="2286000" cy="42062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8600" y="598932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ChromaDB ＋ GraphRAG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42032" y="5989320"/>
            <a:ext cx="2286000" cy="420624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42032" y="598932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</a:rPr>
              <a:t>○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55464" y="5989320"/>
            <a:ext cx="2743200" cy="420624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55464" y="598932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</a:rPr>
              <a:t>○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26096" y="5989320"/>
            <a:ext cx="2468880" cy="420624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26096" y="5989320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</a:rPr>
              <a:t>○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122408" y="5989320"/>
            <a:ext cx="1856231" cy="420624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22408" y="5989320"/>
            <a:ext cx="18562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</a:rPr>
              <a:t>低い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37160" y="6492240"/>
            <a:ext cx="11914632" cy="36576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37160" y="6492240"/>
            <a:ext cx="11914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関連度（ChromaDB）＋ 関連性（GraphRAG）の組み合わせで初めて、抜け漏れのない情報収集が可能になる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91440"/>
            <a:ext cx="11914632" cy="384048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11914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収集した情報をAIが分析し、必要な情報だけを可視化する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603504"/>
            <a:ext cx="2560320" cy="5815584"/>
          </a:xfrm>
          <a:prstGeom prst="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603504"/>
            <a:ext cx="2560320" cy="292608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035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3軸コンテキスト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" y="932688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ChromaDB ＋ GraphRAG
の収集結果を整形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99616"/>
            <a:ext cx="2377440" cy="100584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536192"/>
            <a:ext cx="2231136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外部コンテキスト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962302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市場・競合・規制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615184"/>
            <a:ext cx="2377440" cy="100584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" y="2651760"/>
            <a:ext cx="2231136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社内コンテキスト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307787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技術・過去PJ
失敗条件（conditions_now）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730752"/>
            <a:ext cx="2377440" cy="100584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3767328"/>
            <a:ext cx="2231136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組織コンテキスト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" y="4193438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キーマン情報
（グラフ補完分含む）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34056" y="3511296.0"/>
            <a:ext cx="155448" cy="0.0"/>
          </a:xfrm>
          <a:prstGeom prst="line">
            <a:avLst/>
          </a:prstGeom>
          <a:ln w="19050">
            <a:solidFill>
              <a:srgbClr val="0099C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926080" y="603504"/>
            <a:ext cx="3017520" cy="5815584"/>
          </a:xfrm>
          <a:prstGeom prst="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0" y="603504"/>
            <a:ext cx="3017520" cy="292608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2" y="60350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Stage1　3軸を個別評価（3並列）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932688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3軸を独立したGPT呼び出しで同時処理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371600"/>
            <a:ext cx="2834640" cy="100584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0672" y="1408176"/>
            <a:ext cx="2688336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外部環境を評価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1834286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市場・規制・競合の観点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3248" y="1426464"/>
            <a:ext cx="402336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3248" y="1426464"/>
            <a:ext cx="402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◎○△×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2487168"/>
            <a:ext cx="2834640" cy="100584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2523744"/>
            <a:ext cx="2688336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社内適合を評価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0672" y="2949854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技術・失敗条件の観点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13248" y="2542032"/>
            <a:ext cx="402336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13248" y="2542032"/>
            <a:ext cx="402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◎○△×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602736"/>
            <a:ext cx="2834640" cy="100584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0672" y="3639312"/>
            <a:ext cx="2688336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組織体制を評価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672" y="4065422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キーマン・体制の観点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13248" y="3657600"/>
            <a:ext cx="402336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13248" y="3657600"/>
            <a:ext cx="402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◎○△×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80176" y="3511296.0"/>
            <a:ext cx="155448" cy="0.0"/>
          </a:xfrm>
          <a:prstGeom prst="line">
            <a:avLst/>
          </a:prstGeom>
          <a:ln w="19050">
            <a:solidFill>
              <a:srgbClr val="1B2E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80176" y="3328416"/>
            <a:ext cx="155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B2E45"/>
                </a:solidFill>
              </a:rPr>
              <a:t>スコア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603504"/>
            <a:ext cx="2286000" cy="5815584"/>
          </a:xfrm>
          <a:prstGeom prst="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603504"/>
            <a:ext cx="2286000" cy="292608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603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判定 ＋ Stage2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1005840"/>
            <a:ext cx="210312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100584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 / NO 判定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316736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ルールベース（主観なし）
社内適合×→NO
社内△→条件付きGO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45352" y="1975104"/>
            <a:ext cx="21396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99CC"/>
                </a:solidFill>
              </a:rPr>
              <a:t>Stage2（Tier1 ＋ Tier2 並列）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2176272"/>
            <a:ext cx="2103120" cy="86868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2212848"/>
            <a:ext cx="1956816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Tier1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2575864"/>
            <a:ext cx="1956816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事業案3つ ＋ 承認者サマリー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3154680"/>
            <a:ext cx="2103120" cy="86868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2" y="3191256"/>
            <a:ext cx="1956816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Tier2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6792" y="3554272"/>
            <a:ext cx="1956816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3C分析
Customer / Competitor / Company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94776" y="3511296.0"/>
            <a:ext cx="155448" cy="0.0"/>
          </a:xfrm>
          <a:prstGeom prst="line">
            <a:avLst/>
          </a:prstGeom>
          <a:ln w="19050">
            <a:solidFill>
              <a:srgbClr val="1B2E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494776" y="3328416"/>
            <a:ext cx="1554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B2E45"/>
                </a:solidFill>
              </a:rPr>
              <a:t>生成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603504"/>
            <a:ext cx="3364992" cy="5815584"/>
          </a:xfrm>
          <a:prstGeom prst="rect">
            <a:avLst/>
          </a:prstGeom>
          <a:solidFill>
            <a:srgbClr val="F3F4F6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86800" y="603504"/>
            <a:ext cx="3364992" cy="292608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59952" y="603504"/>
            <a:ext cx="3364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出力・可視化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59952" y="932688"/>
            <a:ext cx="3218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必要な情報だけを可視化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1280160"/>
            <a:ext cx="3182112" cy="8046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51392" y="1316736"/>
            <a:ext cx="3035808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承認者サマリー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1392" y="1650309"/>
            <a:ext cx="3035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GO/NOの理由を1段落に凝縮
意思決定者が読むべき情報のみ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78240" y="2176272"/>
            <a:ext cx="3182112" cy="8046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51392" y="2212848"/>
            <a:ext cx="3035808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3軸評価パネル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51392" y="2546421"/>
            <a:ext cx="3035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◎○△×スコア ＋ 評価根拠
判断の経緯を後から追える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3072384"/>
            <a:ext cx="3182112" cy="8046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51392" y="3108960"/>
            <a:ext cx="3035808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事業提案タブ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51392" y="3442533"/>
            <a:ext cx="3035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事業案3つ ＋ 担当者アクション案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240" y="3968496"/>
            <a:ext cx="3182112" cy="8046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51392" y="4005072"/>
            <a:ext cx="3035808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PyVisグラフ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51392" y="4338645"/>
            <a:ext cx="3035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参照ノードを黄色でハイライト
「なぜこの人物・技術か」が一目でわかる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6492240"/>
            <a:ext cx="11914632" cy="36576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7160" y="6492240"/>
            <a:ext cx="11914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Stage1（3並列）→ GO/NO判定（ルールベース）→ Stage2（2並列）の設計により、高速かつ一貫した分析を実現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