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91440"/>
            <a:ext cx="11914632" cy="36576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4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テーマを入力するだけで、数日かかっていた情報収集・整理・判断を数十秒で完了する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530352"/>
            <a:ext cx="11914632" cy="621792"/>
          </a:xfrm>
          <a:prstGeom prst="rect">
            <a:avLst/>
          </a:prstGeom>
          <a:solidFill>
            <a:srgbClr val="F8FAFC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530352"/>
            <a:ext cx="11914632" cy="27432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" y="53035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テーマ入力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896112"/>
            <a:ext cx="3291840" cy="18288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89611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ターゲット市場 / 想定顧客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6472" y="896112"/>
            <a:ext cx="3291840" cy="18288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89611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活用したい自社アセット・技術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2904" y="896112"/>
            <a:ext cx="3291840" cy="18288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2904" y="89611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事業アイデアの詳細（＋PDF添付）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.0" y="1161288"/>
            <a:ext cx="0.0" cy="73152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37160" y="1243584"/>
            <a:ext cx="11914632" cy="1280160"/>
          </a:xfrm>
          <a:prstGeom prst="rect">
            <a:avLst/>
          </a:prstGeom>
          <a:solidFill>
            <a:srgbClr val="F8FAFC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" y="1243584"/>
            <a:ext cx="11914632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" y="124358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243584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データ検索 ── ChromaDB による意味検索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609344"/>
            <a:ext cx="2560320" cy="22555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609344"/>
            <a:ext cx="2560320" cy="11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external.json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1722120"/>
            <a:ext cx="2560320" cy="9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市場・競合・規制データ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898904"/>
            <a:ext cx="2560320" cy="22555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898904"/>
            <a:ext cx="2560320" cy="11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internal.json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011680"/>
            <a:ext cx="2560320" cy="9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技術・過去PJ・失敗事例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188464"/>
            <a:ext cx="2560320" cy="22555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188464"/>
            <a:ext cx="2560320" cy="11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persons.json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301240"/>
            <a:ext cx="2560320" cy="9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社内キーマン情報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26080" y="2020824.0"/>
            <a:ext cx="365760" cy="0.0"/>
          </a:xfrm>
          <a:prstGeom prst="line">
            <a:avLst/>
          </a:prstGeom>
          <a:ln w="19050">
            <a:solidFill>
              <a:srgbClr val="7C3AE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337560" y="1609344"/>
            <a:ext cx="292608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1609344"/>
            <a:ext cx="2926080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ChromaDB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2020824"/>
            <a:ext cx="2926080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意味の近さ（コサイン類似度）で
キーワード検索より広く・正確に取得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60" y="2020824.0"/>
            <a:ext cx="365760" cy="0.0"/>
          </a:xfrm>
          <a:prstGeom prst="line">
            <a:avLst/>
          </a:prstGeom>
          <a:ln w="19050">
            <a:solidFill>
              <a:srgbClr val="7C3AED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60" y="183794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</a:rPr>
              <a:t>上位5件を取得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1609344"/>
            <a:ext cx="5148072" cy="82296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1609344"/>
            <a:ext cx="5148072" cy="427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検索結果（上位5件）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020824"/>
            <a:ext cx="5148072" cy="36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id / 内容テキスト
類似度スコア / sourceタグ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4476.0" y="2532888"/>
            <a:ext cx="0.0" cy="73152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37160" y="2615184"/>
            <a:ext cx="11914632" cy="1645920"/>
          </a:xfrm>
          <a:prstGeom prst="rect">
            <a:avLst/>
          </a:prstGeom>
          <a:solidFill>
            <a:srgbClr val="F8FAFC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" y="2615184"/>
            <a:ext cx="11914632" cy="274320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" y="261518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2615184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コンテキスト構築 ── 2つの補完処理で3軸テキストを生成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980944"/>
            <a:ext cx="201168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2980944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Step②の
検索結果（5件）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2980944"/>
            <a:ext cx="3474720" cy="512064"/>
          </a:xfrm>
          <a:prstGeom prst="rect">
            <a:avLst/>
          </a:prstGeom>
          <a:solidFill>
            <a:srgbClr val="C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2980944"/>
            <a:ext cx="3474720" cy="26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補完① グラフ検索（NetworkX）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236976"/>
            <a:ext cx="3474720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ヒットIDを起点にノードを1ステップ辿る
→ 直接ヒットしなかった関係者・技術を補完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3657600"/>
            <a:ext cx="3474720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3657600"/>
            <a:ext cx="3474720" cy="266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補完② 失敗条件チェック（internal.json 直接読込）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3913632"/>
            <a:ext cx="3474720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conditions_now を取得
→ 過去の失敗条件が現在解消されたかを確認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377440" y="3236976.0"/>
            <a:ext cx="411480" cy="0.0"/>
          </a:xfrm>
          <a:prstGeom prst="line">
            <a:avLst/>
          </a:prstGeom>
          <a:ln w="19050">
            <a:solidFill>
              <a:srgbClr val="C0501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377440" y="3913632.0"/>
            <a:ext cx="411480" cy="0.0"/>
          </a:xfrm>
          <a:prstGeom prst="line">
            <a:avLst/>
          </a:prstGeom>
          <a:ln w="19050">
            <a:solidFill>
              <a:srgbClr val="B91C1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812280" y="2980944"/>
            <a:ext cx="5056632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2980944"/>
            <a:ext cx="5056632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外部コンテキスト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3154680"/>
            <a:ext cx="5056632" cy="15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市場・競合・規制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80" y="3392424"/>
            <a:ext cx="5056632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3392424"/>
            <a:ext cx="5056632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社内コンテキスト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3566160"/>
            <a:ext cx="5056632" cy="15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技術・過去PJ・失敗条件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80" y="3803904"/>
            <a:ext cx="5056632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80" y="3803904"/>
            <a:ext cx="5056632" cy="18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組織コンテキスト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3977640"/>
            <a:ext cx="5056632" cy="152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キーマン情報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236976.0"/>
            <a:ext cx="411480" cy="0.0"/>
          </a:xfrm>
          <a:prstGeom prst="line">
            <a:avLst/>
          </a:prstGeom>
          <a:ln w="19050">
            <a:solidFill>
              <a:srgbClr val="0099C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55080" y="3054096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99CC"/>
                </a:solidFill>
              </a:rPr>
              <a:t>3軸に整形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355080" y="3913632.0"/>
            <a:ext cx="411480" cy="0.0"/>
          </a:xfrm>
          <a:prstGeom prst="line">
            <a:avLst/>
          </a:prstGeom>
          <a:ln w="19050">
            <a:solidFill>
              <a:srgbClr val="0099C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094476.0" y="4270248"/>
            <a:ext cx="0.0" cy="73152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37160" y="4352544"/>
            <a:ext cx="11914632" cy="1298448"/>
          </a:xfrm>
          <a:prstGeom prst="rect">
            <a:avLst/>
          </a:prstGeom>
          <a:solidFill>
            <a:srgbClr val="F8FAFC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37160" y="4352544"/>
            <a:ext cx="11914632" cy="27432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2024" y="4352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352544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AI分析 ── 2段階・並列処理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4718304"/>
            <a:ext cx="3544824" cy="23164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718304"/>
            <a:ext cx="3544824" cy="23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外部環境を評価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5013960"/>
            <a:ext cx="3544824" cy="23164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5013960"/>
            <a:ext cx="3544824" cy="23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社内適合を評価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309616"/>
            <a:ext cx="3544824" cy="231648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5309616"/>
            <a:ext cx="3544824" cy="23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組織体制を評価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0040" y="4700016"/>
            <a:ext cx="3544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99CC"/>
                </a:solidFill>
              </a:rPr>
              <a:t>Stage1（3並列）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910584.0" y="5138928.0"/>
            <a:ext cx="365760.0" cy="0.0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910584" y="495604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2E45"/>
                </a:solidFill>
              </a:rPr>
              <a:t>◎○△× スコア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22064" y="4718304"/>
            <a:ext cx="3544824" cy="46268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2064" y="4718304"/>
            <a:ext cx="3544824" cy="24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GO / NO 判定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22064" y="4949647"/>
            <a:ext cx="3544824" cy="203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社内適合×→NO
社内△→条件付きGO
それ以外→GO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22064" y="4700016"/>
            <a:ext cx="3544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A34A"/>
                </a:solidFill>
              </a:rPr>
              <a:t>ルールベース（主観なし）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912608.0" y="5138928.0"/>
            <a:ext cx="365760.0" cy="0.0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912608" y="495604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B2E45"/>
                </a:solidFill>
              </a:rPr>
              <a:t>GO/NO判定を付与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24088" y="4718304"/>
            <a:ext cx="3544824" cy="31333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24088" y="4718304"/>
            <a:ext cx="3544824" cy="31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Tier1：事業案3つ ＋ 承認者サマリー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24088" y="5141366"/>
            <a:ext cx="3544824" cy="313334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24088" y="5141366"/>
            <a:ext cx="3544824" cy="162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Tier2：3C分析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4088" y="5298033"/>
            <a:ext cx="3544824" cy="137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5FF"/>
                </a:solidFill>
              </a:rPr>
              <a:t>Customer / Competitor / Company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24088" y="4700016"/>
            <a:ext cx="3544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99CC"/>
                </a:solidFill>
              </a:rPr>
              <a:t>Stage2（2並列）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094476.0" y="5660136"/>
            <a:ext cx="0.0" cy="73152"/>
          </a:xfrm>
          <a:prstGeom prst="line">
            <a:avLst/>
          </a:prstGeom>
          <a:ln w="19050">
            <a:solidFill>
              <a:srgbClr val="1B2E4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137160" y="5742432"/>
            <a:ext cx="11914632" cy="603504"/>
          </a:xfrm>
          <a:prstGeom prst="rect">
            <a:avLst/>
          </a:prstGeom>
          <a:solidFill>
            <a:srgbClr val="F8FAFC"/>
          </a:solidFill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7160" y="5742432"/>
            <a:ext cx="11914632" cy="27432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2024" y="574243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" y="5742432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画面表示（Streamlit）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6108192"/>
            <a:ext cx="2163470" cy="16459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" y="6108192"/>
            <a:ext cx="216347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承認者サマリー
（GO/NO ＋ 要約）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66390" y="6108192"/>
            <a:ext cx="2163470" cy="16459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66390" y="6108192"/>
            <a:ext cx="216347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3軸評価
（◎○△× ＋ 根拠）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12740" y="6108192"/>
            <a:ext cx="2163470" cy="16459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12740" y="6108192"/>
            <a:ext cx="216347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事業提案タブ
（3案 ＋ アクション）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59091" y="6108192"/>
            <a:ext cx="2163470" cy="16459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59091" y="6108192"/>
            <a:ext cx="216347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3C分析タブ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05441" y="6108192"/>
            <a:ext cx="2163470" cy="16459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05441" y="6108192"/>
            <a:ext cx="216347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知識グラフ
（PyVis）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37160" y="6492240"/>
            <a:ext cx="11914632" cy="36576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37160" y="6492240"/>
            <a:ext cx="11914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ChromaDB（意味検索）＋ NetworkX（グラフ検索）＋ GPT-4o-mini（AI分析）を組み合わせた新規事業判断支援システム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